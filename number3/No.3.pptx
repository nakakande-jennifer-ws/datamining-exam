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5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7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2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8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6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0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FDE9-B961-45CA-94FF-5B157DE4A61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4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SUPERMARKET PURCHASING BEHAVIOR ANALYSIS</a:t>
            </a:r>
            <a:endParaRPr lang="en-US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Association rule mining using </a:t>
            </a:r>
            <a:r>
              <a:rPr lang="en-US" dirty="0" err="1"/>
              <a:t>Apriori</a:t>
            </a:r>
            <a:r>
              <a:rPr lang="en-US" dirty="0"/>
              <a:t> </a:t>
            </a:r>
            <a:r>
              <a:rPr lang="en-US" dirty="0" smtClean="0"/>
              <a:t>algorithm</a:t>
            </a:r>
          </a:p>
          <a:p>
            <a:r>
              <a:rPr lang="en-US" smtClean="0"/>
              <a:t>Name: Nakakande</a:t>
            </a:r>
            <a:r>
              <a:rPr lang="en-US" dirty="0" smtClean="0"/>
              <a:t> Jennifer </a:t>
            </a:r>
            <a:r>
              <a:rPr lang="en-US" dirty="0" err="1" smtClean="0"/>
              <a:t>ws</a:t>
            </a:r>
            <a:r>
              <a:rPr lang="en-US" dirty="0" smtClean="0"/>
              <a:t> </a:t>
            </a:r>
          </a:p>
          <a:p>
            <a:r>
              <a:rPr lang="en-US" dirty="0" smtClean="0"/>
              <a:t>Registration Number: 2023-B071-22675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6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6692" y="6180"/>
            <a:ext cx="3932237" cy="1600200"/>
          </a:xfrm>
        </p:spPr>
        <p:txBody>
          <a:bodyPr/>
          <a:lstStyle/>
          <a:p>
            <a:r>
              <a:rPr lang="en-US" b="1" dirty="0" smtClean="0"/>
              <a:t>Introduction &amp; Dataset 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2515" y="2371640"/>
            <a:ext cx="6569485" cy="37211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197708" y="1606380"/>
            <a:ext cx="5424807" cy="525162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Objective:</a:t>
            </a:r>
            <a:r>
              <a:rPr lang="en-US" sz="2800" dirty="0" smtClean="0"/>
              <a:t> To analyze customer purchasing behavior to improve product placement and cross-selling.</a:t>
            </a:r>
          </a:p>
          <a:p>
            <a:r>
              <a:rPr lang="en-US" sz="2800" b="1" dirty="0" smtClean="0"/>
              <a:t>Dataset Overview:</a:t>
            </a:r>
            <a:endParaRPr lang="en-US" sz="2800" dirty="0" smtClean="0"/>
          </a:p>
          <a:p>
            <a:pPr lvl="1"/>
            <a:r>
              <a:rPr lang="en-US" sz="2800" dirty="0" smtClean="0"/>
              <a:t>Total Transactions: 10</a:t>
            </a:r>
          </a:p>
          <a:p>
            <a:pPr lvl="1"/>
            <a:r>
              <a:rPr lang="en-US" sz="2800" dirty="0" smtClean="0"/>
              <a:t>Unique Items: 6 (Bread, Milk, Eggs, Butter, Diapers, Beer)</a:t>
            </a:r>
          </a:p>
          <a:p>
            <a:r>
              <a:rPr lang="en-US" sz="2800" b="1" dirty="0" smtClean="0"/>
              <a:t>Data Structure:</a:t>
            </a:r>
            <a:r>
              <a:rPr lang="en-US" sz="2800" dirty="0" smtClean="0"/>
              <a:t> Unstructured list of items per transaction ID.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875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Preparation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4503" y="1006661"/>
            <a:ext cx="1189749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Steps: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string data into a list of lists (Transaction format).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(Boolean True/False format) to make the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lang="en-US" altLang="en-US" sz="2800" dirty="0" smtClean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the Apriori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9" y="3459892"/>
            <a:ext cx="7562336" cy="29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5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 &amp; Apriori Settings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220363" y="1027906"/>
            <a:ext cx="56614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Apriori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 Used:</a:t>
            </a:r>
            <a:endParaRPr kumimoji="0" lang="en-US" alt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Support: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0.2 (Item must appear in at least 20% of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Confidence: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0.5 (Rule must be true at least 50% of the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Calculated: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Support, Confidence, and Lift.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73900" y="1384300"/>
            <a:ext cx="4470400" cy="42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6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Frequent </a:t>
            </a:r>
            <a:r>
              <a:rPr lang="en-US" b="1" dirty="0" err="1" smtClean="0"/>
              <a:t>Itemsets</a:t>
            </a:r>
            <a:r>
              <a:rPr lang="en-US" b="1" dirty="0" smtClean="0"/>
              <a:t> Results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91065" y="662783"/>
            <a:ext cx="10515600" cy="1906116"/>
          </a:xfrm>
        </p:spPr>
        <p:txBody>
          <a:bodyPr/>
          <a:lstStyle/>
          <a:p>
            <a:r>
              <a:rPr lang="en-US" b="1" dirty="0" smtClean="0"/>
              <a:t>Key Findings:</a:t>
            </a:r>
            <a:endParaRPr lang="en-US" dirty="0" smtClean="0"/>
          </a:p>
          <a:p>
            <a:pPr lvl="1"/>
            <a:r>
              <a:rPr lang="en-US" b="1" dirty="0" smtClean="0"/>
              <a:t>Milk</a:t>
            </a:r>
            <a:r>
              <a:rPr lang="en-US" dirty="0" smtClean="0"/>
              <a:t> is the most popular item (Support 0.7).</a:t>
            </a:r>
          </a:p>
          <a:p>
            <a:pPr lvl="1"/>
            <a:r>
              <a:rPr lang="en-US" b="1" dirty="0" smtClean="0"/>
              <a:t>Bread</a:t>
            </a:r>
            <a:r>
              <a:rPr lang="en-US" dirty="0" smtClean="0"/>
              <a:t> is the second most popular (Support 0.6).</a:t>
            </a:r>
          </a:p>
          <a:p>
            <a:pPr lvl="1"/>
            <a:r>
              <a:rPr lang="en-US" dirty="0" smtClean="0"/>
              <a:t>Strong co-occurrence found between Bread &amp; Butter and Bread &amp; Milk.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5" y="2236363"/>
            <a:ext cx="4513789" cy="43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6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Generated Association Rules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Overview:</a:t>
            </a:r>
            <a:endParaRPr lang="en-US" dirty="0" smtClean="0"/>
          </a:p>
          <a:p>
            <a:pPr lvl="1"/>
            <a:r>
              <a:rPr lang="en-US" dirty="0" smtClean="0"/>
              <a:t>Total Rules Generated: 19</a:t>
            </a:r>
          </a:p>
          <a:p>
            <a:pPr lvl="1"/>
            <a:r>
              <a:rPr lang="en-US" dirty="0" smtClean="0"/>
              <a:t>Filtered by Minimum Confidence &gt; 0.5.</a:t>
            </a:r>
          </a:p>
          <a:p>
            <a:r>
              <a:rPr lang="en-US" dirty="0" smtClean="0"/>
              <a:t>The table displays the Antecedents (IF), Consequents (THEN), and the strength of the relationship (Lift).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2418" y="1257210"/>
            <a:ext cx="5423636" cy="47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4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Top 3 Strongest Rules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1102" y="1476375"/>
            <a:ext cx="5535245" cy="4873625"/>
          </a:xfrm>
          <a:prstGeom prst="rect">
            <a:avLst/>
          </a:prstGeom>
        </p:spPr>
      </p:pic>
      <p:sp>
        <p:nvSpPr>
          <p:cNvPr id="8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59569" y="1984556"/>
            <a:ext cx="53009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1: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{Beer} -&gt; {Diapers}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2.5 (Very Strong)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buying beer are 2.5x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likely to buy diapers.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2: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{Diapers} -&gt; {Beer}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Inverse relationship holds 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unexpected but strong correlation.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3: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{Bread, Milk} -&gt; {Eggs}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1.67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Classic "Breakfast" combination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0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Recommendation 1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Strategy: Strategic Product Placement</a:t>
            </a:r>
            <a:endParaRPr lang="en-US" dirty="0" smtClean="0"/>
          </a:p>
          <a:p>
            <a:r>
              <a:rPr lang="en-US" b="1" dirty="0" smtClean="0"/>
              <a:t>Insight:</a:t>
            </a:r>
            <a:r>
              <a:rPr lang="en-US" dirty="0" smtClean="0"/>
              <a:t> High association between Bread, Milk, and Butter.</a:t>
            </a:r>
          </a:p>
          <a:p>
            <a:r>
              <a:rPr lang="en-US" b="1" dirty="0" smtClean="0"/>
              <a:t>Action Plan:</a:t>
            </a:r>
            <a:endParaRPr lang="en-US" dirty="0" smtClean="0"/>
          </a:p>
          <a:p>
            <a:pPr lvl="1"/>
            <a:r>
              <a:rPr lang="en-US" dirty="0" smtClean="0"/>
              <a:t>Create an "Essential Breakfast" zone.</a:t>
            </a:r>
          </a:p>
          <a:p>
            <a:pPr lvl="1"/>
            <a:r>
              <a:rPr lang="en-US" dirty="0" smtClean="0"/>
              <a:t>Place Eggs adjacent to the Milk section.</a:t>
            </a:r>
          </a:p>
          <a:p>
            <a:pPr lvl="1"/>
            <a:r>
              <a:rPr lang="en-US" dirty="0" smtClean="0"/>
              <a:t>Ensure high stock levels for this cluster.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690689"/>
            <a:ext cx="5665573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Recommendation 2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75175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Strategy: Targeted Cross-Selling</a:t>
            </a:r>
            <a:endParaRPr lang="en-US" dirty="0" smtClean="0"/>
          </a:p>
          <a:p>
            <a:r>
              <a:rPr lang="en-US" b="1" dirty="0" smtClean="0"/>
              <a:t>Insight:</a:t>
            </a:r>
            <a:r>
              <a:rPr lang="en-US" dirty="0" smtClean="0"/>
              <a:t> The Beer &amp; Diapers connection suggests a specific shopper demographic (likely young parents).</a:t>
            </a:r>
          </a:p>
          <a:p>
            <a:r>
              <a:rPr lang="en-US" b="1" dirty="0" smtClean="0"/>
              <a:t>Action Plan:</a:t>
            </a:r>
            <a:endParaRPr lang="en-US" dirty="0" smtClean="0"/>
          </a:p>
          <a:p>
            <a:pPr lvl="1"/>
            <a:r>
              <a:rPr lang="en-US" b="1" dirty="0" smtClean="0"/>
              <a:t>Bundles:</a:t>
            </a:r>
            <a:r>
              <a:rPr lang="en-US" dirty="0" smtClean="0"/>
              <a:t> "Breakfast Essentials Bundle" (Save 10%).</a:t>
            </a:r>
          </a:p>
          <a:p>
            <a:pPr lvl="1"/>
            <a:r>
              <a:rPr lang="en-US" b="1" dirty="0" smtClean="0"/>
              <a:t>Promotions:</a:t>
            </a:r>
            <a:r>
              <a:rPr lang="en-US" dirty="0" smtClean="0"/>
              <a:t> "Don't forget the Butter" signage near Bread.</a:t>
            </a:r>
          </a:p>
          <a:p>
            <a:pPr lvl="1"/>
            <a:r>
              <a:rPr lang="en-US" b="1" dirty="0" smtClean="0"/>
              <a:t>Impulse:</a:t>
            </a:r>
            <a:r>
              <a:rPr lang="en-US" dirty="0" smtClean="0"/>
              <a:t> Place premium beer snacks near the diaper aisle or vice-versa.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8188" y="1690688"/>
            <a:ext cx="5673811" cy="47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2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-741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 smtClean="0"/>
              <a:t>Conclusion</a:t>
            </a:r>
            <a:endParaRPr lang="en-US" sz="35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42376"/>
            <a:ext cx="10515600" cy="145483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Summary:</a:t>
            </a:r>
            <a:endParaRPr lang="en-US" dirty="0" smtClean="0"/>
          </a:p>
          <a:p>
            <a:pPr lvl="1"/>
            <a:r>
              <a:rPr lang="en-US" dirty="0" smtClean="0"/>
              <a:t>Analysis successfully identified key shopping patterns.</a:t>
            </a:r>
          </a:p>
          <a:p>
            <a:pPr lvl="1"/>
            <a:r>
              <a:rPr lang="en-US" dirty="0" smtClean="0"/>
              <a:t>Implementing placement changes for Breakfast items and cross-selling strategies for niche pairs (Beer/Diapers) can increase basket size.</a:t>
            </a:r>
          </a:p>
          <a:p>
            <a:r>
              <a:rPr lang="en-US" b="1" dirty="0" smtClean="0"/>
              <a:t>Expected Impact:</a:t>
            </a:r>
            <a:r>
              <a:rPr lang="en-US" dirty="0" smtClean="0"/>
              <a:t> Estimated 10-15% increase in sales for complementary products.</a:t>
            </a:r>
          </a:p>
          <a:p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065" y="2397211"/>
            <a:ext cx="734763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5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455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SUPERMARKET PURCHASING BEHAVIOR ANALYSIS</vt:lpstr>
      <vt:lpstr>Introduction &amp; Dataset  </vt:lpstr>
      <vt:lpstr>Data Preparation </vt:lpstr>
      <vt:lpstr>Methodology &amp; Apriori Settings </vt:lpstr>
      <vt:lpstr>Frequent Itemsets Results </vt:lpstr>
      <vt:lpstr>Generated Association Rules </vt:lpstr>
      <vt:lpstr>Top 3 Strongest Rules </vt:lpstr>
      <vt:lpstr>Business Recommendation 1 </vt:lpstr>
      <vt:lpstr>Business Recommendation 2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PURCHASING BEHAVIOR ANALYSIS</dc:title>
  <dc:creator>Lunatic</dc:creator>
  <cp:lastModifiedBy>Maria Kirabo</cp:lastModifiedBy>
  <cp:revision>18</cp:revision>
  <dcterms:created xsi:type="dcterms:W3CDTF">2025-12-13T11:36:29Z</dcterms:created>
  <dcterms:modified xsi:type="dcterms:W3CDTF">2025-12-14T13:39:06Z</dcterms:modified>
</cp:coreProperties>
</file>