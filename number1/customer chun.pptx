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23" y="-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734-FD3D-42F5-8098-BB37DC43626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152E-CA85-40FE-9F4F-78816DA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5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734-FD3D-42F5-8098-BB37DC43626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152E-CA85-40FE-9F4F-78816DA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6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734-FD3D-42F5-8098-BB37DC43626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152E-CA85-40FE-9F4F-78816DA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87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734-FD3D-42F5-8098-BB37DC43626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152E-CA85-40FE-9F4F-78816DA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54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734-FD3D-42F5-8098-BB37DC43626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152E-CA85-40FE-9F4F-78816DA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90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734-FD3D-42F5-8098-BB37DC43626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152E-CA85-40FE-9F4F-78816DA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5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734-FD3D-42F5-8098-BB37DC43626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152E-CA85-40FE-9F4F-78816DA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73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734-FD3D-42F5-8098-BB37DC43626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152E-CA85-40FE-9F4F-78816DA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22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734-FD3D-42F5-8098-BB37DC43626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152E-CA85-40FE-9F4F-78816DA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6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734-FD3D-42F5-8098-BB37DC43626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152E-CA85-40FE-9F4F-78816DA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1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734-FD3D-42F5-8098-BB37DC43626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152E-CA85-40FE-9F4F-78816DA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7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90734-FD3D-42F5-8098-BB37DC436269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4152E-CA85-40FE-9F4F-78816DA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9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500" b="1" dirty="0"/>
              <a:t>Headline:</a:t>
            </a:r>
            <a:r>
              <a:rPr lang="en-US" sz="2500" dirty="0"/>
              <a:t> Telecom Customer Churn Prediction Pipeline</a:t>
            </a:r>
            <a:br>
              <a:rPr lang="en-US" sz="2500" dirty="0"/>
            </a:br>
            <a:r>
              <a:rPr lang="en-US" sz="2500" b="1" dirty="0"/>
              <a:t>Sub-headline:</a:t>
            </a:r>
            <a:r>
              <a:rPr lang="en-US" sz="2500" dirty="0"/>
              <a:t> Retention Strategies for Prepaid Subscribers in East Africa</a:t>
            </a:r>
            <a:br>
              <a:rPr lang="en-US" sz="2500" dirty="0"/>
            </a:br>
            <a:endParaRPr lang="en-US" sz="2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Name:</a:t>
            </a:r>
          </a:p>
          <a:p>
            <a:r>
              <a:rPr lang="en-US" dirty="0" smtClean="0"/>
              <a:t>Registration number: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876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 A - Data Overview &amp; Preprocessing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Dataset Overview:</a:t>
            </a:r>
            <a:endParaRPr lang="en-US" dirty="0"/>
          </a:p>
          <a:p>
            <a:pPr lvl="1"/>
            <a:r>
              <a:rPr lang="en-US" b="1" dirty="0"/>
              <a:t>Source:</a:t>
            </a:r>
            <a:r>
              <a:rPr lang="en-US" dirty="0"/>
              <a:t> Telco Customer Churn Dataset.</a:t>
            </a:r>
          </a:p>
          <a:p>
            <a:pPr lvl="1"/>
            <a:r>
              <a:rPr lang="en-US" b="1" dirty="0"/>
              <a:t>Volume:</a:t>
            </a:r>
            <a:r>
              <a:rPr lang="en-US" dirty="0"/>
              <a:t> 7,043 Customer records with 21 attributes.</a:t>
            </a:r>
          </a:p>
          <a:p>
            <a:r>
              <a:rPr lang="en-US" b="1" dirty="0"/>
              <a:t>Preprocessing Steps:</a:t>
            </a:r>
            <a:endParaRPr lang="en-US" dirty="0"/>
          </a:p>
          <a:p>
            <a:pPr lvl="1"/>
            <a:r>
              <a:rPr lang="en-US" b="1" dirty="0"/>
              <a:t>Handling Nulls:</a:t>
            </a:r>
            <a:r>
              <a:rPr lang="en-US" dirty="0"/>
              <a:t> Converted </a:t>
            </a:r>
            <a:r>
              <a:rPr lang="en-US" dirty="0" err="1"/>
              <a:t>TotalCharges</a:t>
            </a:r>
            <a:r>
              <a:rPr lang="en-US" dirty="0"/>
              <a:t> to numeric; filled missing values with 0.</a:t>
            </a:r>
          </a:p>
          <a:p>
            <a:pPr lvl="1"/>
            <a:r>
              <a:rPr lang="en-US" b="1" dirty="0"/>
              <a:t>Encoding:</a:t>
            </a:r>
            <a:r>
              <a:rPr lang="en-US" dirty="0"/>
              <a:t> Applied Label Encoding for binary variables (Yes/No) and One-Hot Encoding for multi-class variables (e.g., Payment Method).</a:t>
            </a:r>
          </a:p>
          <a:p>
            <a:pPr lvl="1"/>
            <a:r>
              <a:rPr lang="en-US" b="1" dirty="0"/>
              <a:t>Scaling:</a:t>
            </a:r>
            <a:r>
              <a:rPr lang="en-US" dirty="0"/>
              <a:t> Standardized tenure, </a:t>
            </a:r>
            <a:r>
              <a:rPr lang="en-US" dirty="0" err="1"/>
              <a:t>MonthlyCharges</a:t>
            </a:r>
            <a:r>
              <a:rPr lang="en-US" dirty="0"/>
              <a:t>, and </a:t>
            </a:r>
            <a:r>
              <a:rPr lang="en-US" dirty="0" err="1"/>
              <a:t>TotalCharges</a:t>
            </a:r>
            <a:r>
              <a:rPr lang="en-US" dirty="0"/>
              <a:t> for model stability</a:t>
            </a:r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72320"/>
            <a:ext cx="5181600" cy="365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56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83028"/>
            <a:ext cx="10515600" cy="64225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Exploratory Data Analysis (Distributions)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758826"/>
            <a:ext cx="10515600" cy="2038803"/>
          </a:xfrm>
        </p:spPr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Numerical Summary: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Average Tenure: ~32 months.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Average Monthly Charge: ~$65.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Distributions: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Tenure: Bimodal distribution. A huge spike in new customers (&lt; 5 months) and loyal customers (&gt; 65 months).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Charges: Skewed towards lower monthly charges, but a significant portion pays high rates.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8" y="2754085"/>
            <a:ext cx="11430000" cy="406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476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Churn Drivers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359562"/>
            <a:ext cx="6172200" cy="412935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Contract Type Analysis:</a:t>
            </a:r>
            <a:endParaRPr lang="en-US" sz="2400" dirty="0"/>
          </a:p>
          <a:p>
            <a:pPr lvl="1"/>
            <a:r>
              <a:rPr lang="en-US" sz="2400" b="1" dirty="0"/>
              <a:t>Month-to-month</a:t>
            </a:r>
            <a:r>
              <a:rPr lang="en-US" sz="2400" dirty="0"/>
              <a:t> contracts show a drastically higher churn rate compared to One or Two-year contracts.</a:t>
            </a:r>
          </a:p>
          <a:p>
            <a:pPr lvl="1"/>
            <a:r>
              <a:rPr lang="en-US" sz="2400" dirty="0"/>
              <a:t>Long-term contracts act as a strong retention mechanism.</a:t>
            </a:r>
          </a:p>
        </p:txBody>
      </p:sp>
    </p:spTree>
    <p:extLst>
      <p:ext uri="{BB962C8B-B14F-4D97-AF65-F5344CB8AC3E}">
        <p14:creationId xmlns:p14="http://schemas.microsoft.com/office/powerpoint/2010/main" val="280803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Correlation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844550"/>
            <a:ext cx="10515600" cy="3508375"/>
          </a:xfrm>
        </p:spPr>
        <p:txBody>
          <a:bodyPr/>
          <a:lstStyle/>
          <a:p>
            <a:r>
              <a:rPr lang="en-US" b="1" dirty="0"/>
              <a:t>Feature Correlations:</a:t>
            </a:r>
            <a:endParaRPr lang="en-US" dirty="0"/>
          </a:p>
          <a:p>
            <a:pPr lvl="1"/>
            <a:r>
              <a:rPr lang="en-US" b="1" dirty="0"/>
              <a:t>Positive Correlation:</a:t>
            </a:r>
            <a:r>
              <a:rPr lang="en-US" dirty="0"/>
              <a:t> Higher </a:t>
            </a:r>
            <a:r>
              <a:rPr lang="en-US" dirty="0" err="1"/>
              <a:t>MonthlyCharges</a:t>
            </a:r>
            <a:r>
              <a:rPr lang="en-US" dirty="0"/>
              <a:t> and </a:t>
            </a:r>
            <a:r>
              <a:rPr lang="en-US" dirty="0" err="1"/>
              <a:t>PaperlessBilling</a:t>
            </a:r>
            <a:r>
              <a:rPr lang="en-US" dirty="0"/>
              <a:t> correlate with Churn.</a:t>
            </a:r>
          </a:p>
          <a:p>
            <a:pPr lvl="1"/>
            <a:r>
              <a:rPr lang="en-US" b="1" dirty="0"/>
              <a:t>Negative Correlation:</a:t>
            </a:r>
            <a:r>
              <a:rPr lang="en-US" dirty="0"/>
              <a:t> High tenure and Two year contracts correlate with Retention (No Churn).</a:t>
            </a:r>
          </a:p>
        </p:txBody>
      </p:sp>
    </p:spTree>
    <p:extLst>
      <p:ext uri="{BB962C8B-B14F-4D97-AF65-F5344CB8AC3E}">
        <p14:creationId xmlns:p14="http://schemas.microsoft.com/office/powerpoint/2010/main" val="217775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0100" y="74613"/>
            <a:ext cx="10515600" cy="915988"/>
          </a:xfrm>
        </p:spPr>
        <p:txBody>
          <a:bodyPr/>
          <a:lstStyle/>
          <a:p>
            <a:r>
              <a:rPr lang="en-US" dirty="0" smtClean="0"/>
              <a:t>Correlation analysis continued…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092" y="885825"/>
            <a:ext cx="9443558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45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Machine Learning Models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Approach:</a:t>
            </a:r>
            <a:endParaRPr lang="en-US" dirty="0"/>
          </a:p>
          <a:p>
            <a:pPr lvl="1"/>
            <a:r>
              <a:rPr lang="en-US" b="1" dirty="0"/>
              <a:t>Split:</a:t>
            </a:r>
            <a:r>
              <a:rPr lang="en-US" dirty="0"/>
              <a:t> 80% Training Data / 20% Testing Data.</a:t>
            </a:r>
          </a:p>
          <a:p>
            <a:pPr lvl="1"/>
            <a:r>
              <a:rPr lang="en-US" b="1" dirty="0"/>
              <a:t>Models Trained:</a:t>
            </a:r>
            <a:endParaRPr lang="en-US" dirty="0"/>
          </a:p>
          <a:p>
            <a:pPr lvl="2"/>
            <a:r>
              <a:rPr lang="en-US" b="1" dirty="0"/>
              <a:t>Logistic Regression:</a:t>
            </a:r>
            <a:r>
              <a:rPr lang="en-US" dirty="0"/>
              <a:t> Baseline model, highly interpretable.</a:t>
            </a:r>
          </a:p>
          <a:p>
            <a:pPr lvl="2"/>
            <a:r>
              <a:rPr lang="en-US" b="1" dirty="0"/>
              <a:t>Random Forest Classifier:</a:t>
            </a:r>
            <a:r>
              <a:rPr lang="en-US" dirty="0"/>
              <a:t> Ensemble method to capture non-linear relationships.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333625"/>
            <a:ext cx="5181600" cy="260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8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Model 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Comparison:</a:t>
            </a:r>
            <a:endParaRPr lang="en-US" dirty="0"/>
          </a:p>
          <a:p>
            <a:pPr lvl="1"/>
            <a:r>
              <a:rPr lang="en-US" b="1" dirty="0"/>
              <a:t>Logistic Regression:</a:t>
            </a:r>
            <a:endParaRPr lang="en-US" dirty="0"/>
          </a:p>
          <a:p>
            <a:pPr lvl="2"/>
            <a:r>
              <a:rPr lang="en-US" dirty="0"/>
              <a:t>Accuracy: </a:t>
            </a:r>
            <a:r>
              <a:rPr lang="en-US" b="1" dirty="0"/>
              <a:t>82.11%</a:t>
            </a:r>
            <a:endParaRPr lang="en-US" dirty="0"/>
          </a:p>
          <a:p>
            <a:pPr lvl="2"/>
            <a:r>
              <a:rPr lang="en-US" dirty="0"/>
              <a:t>F1-Score: </a:t>
            </a:r>
            <a:r>
              <a:rPr lang="en-US" b="1" dirty="0"/>
              <a:t>0.64</a:t>
            </a:r>
            <a:endParaRPr lang="en-US" dirty="0"/>
          </a:p>
          <a:p>
            <a:pPr lvl="1"/>
            <a:r>
              <a:rPr lang="en-US" b="1" dirty="0"/>
              <a:t>Random Forest:</a:t>
            </a:r>
            <a:endParaRPr lang="en-US" dirty="0"/>
          </a:p>
          <a:p>
            <a:pPr lvl="2"/>
            <a:r>
              <a:rPr lang="en-US" dirty="0"/>
              <a:t>Accuracy: </a:t>
            </a:r>
            <a:r>
              <a:rPr lang="en-US" b="1" dirty="0"/>
              <a:t>79.42%</a:t>
            </a:r>
            <a:endParaRPr lang="en-US" dirty="0"/>
          </a:p>
          <a:p>
            <a:pPr lvl="2"/>
            <a:r>
              <a:rPr lang="en-US" dirty="0"/>
              <a:t>F1-Score: </a:t>
            </a:r>
            <a:r>
              <a:rPr lang="en-US" b="1" dirty="0"/>
              <a:t>0.55</a:t>
            </a:r>
            <a:endParaRPr lang="en-US" dirty="0"/>
          </a:p>
          <a:p>
            <a:r>
              <a:rPr lang="en-US" b="1" dirty="0"/>
              <a:t>Conclusion:</a:t>
            </a:r>
            <a:r>
              <a:rPr lang="en-US" dirty="0"/>
              <a:t> Logistic Regression outperformed Random Forest in this specific iteration, offering better recall and precision balance.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2158193"/>
            <a:ext cx="4953000" cy="423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27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Importance</a:t>
            </a:r>
            <a:br>
              <a:rPr lang="en-US" b="1" dirty="0"/>
            </a:b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2025" y="762000"/>
            <a:ext cx="6583363" cy="5343525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What Drives Churn?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Based on the model analysis, the top factors influencing predictions are:</a:t>
            </a:r>
          </a:p>
          <a:p>
            <a:pPr lvl="1"/>
            <a:r>
              <a:rPr lang="en-US" sz="2000" b="1" dirty="0"/>
              <a:t>Total Charges:</a:t>
            </a:r>
            <a:r>
              <a:rPr lang="en-US" sz="2000" dirty="0"/>
              <a:t> High lifetime value customers behave differently.</a:t>
            </a:r>
          </a:p>
          <a:p>
            <a:pPr lvl="1"/>
            <a:r>
              <a:rPr lang="en-US" sz="2000" b="1" dirty="0"/>
              <a:t>Monthly Charges:</a:t>
            </a:r>
            <a:r>
              <a:rPr lang="en-US" sz="2000" dirty="0"/>
              <a:t> Pricing sensitivity is high.</a:t>
            </a:r>
          </a:p>
          <a:p>
            <a:pPr lvl="1"/>
            <a:r>
              <a:rPr lang="en-US" sz="2000" b="1" dirty="0"/>
              <a:t>Tenure:</a:t>
            </a:r>
            <a:r>
              <a:rPr lang="en-US" sz="2000" dirty="0"/>
              <a:t> New customers are the most volatile.</a:t>
            </a:r>
          </a:p>
          <a:p>
            <a:pPr lvl="1"/>
            <a:r>
              <a:rPr lang="en-US" sz="2000" b="1" dirty="0"/>
              <a:t>Contract Type:</a:t>
            </a:r>
            <a:r>
              <a:rPr lang="en-US" sz="2000" dirty="0"/>
              <a:t> The strongest behavioral predictor.</a:t>
            </a:r>
          </a:p>
        </p:txBody>
      </p:sp>
    </p:spTree>
    <p:extLst>
      <p:ext uri="{BB962C8B-B14F-4D97-AF65-F5344CB8AC3E}">
        <p14:creationId xmlns:p14="http://schemas.microsoft.com/office/powerpoint/2010/main" val="2625345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33450" y="0"/>
            <a:ext cx="10515600" cy="1325563"/>
          </a:xfrm>
        </p:spPr>
        <p:txBody>
          <a:bodyPr/>
          <a:lstStyle/>
          <a:p>
            <a:r>
              <a:rPr lang="en-US" b="1" dirty="0"/>
              <a:t>Executive Dashboard Design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81050" y="853422"/>
            <a:ext cx="10515600" cy="186055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Dashboard Concept:</a:t>
            </a:r>
            <a:r>
              <a:rPr lang="en-US" dirty="0"/>
              <a:t> A Power BI interface for marketing teams to identify high-risk segments.</a:t>
            </a:r>
          </a:p>
          <a:p>
            <a:r>
              <a:rPr lang="en-US" b="1" dirty="0"/>
              <a:t>Key Components:</a:t>
            </a:r>
            <a:endParaRPr lang="en-US" dirty="0"/>
          </a:p>
          <a:p>
            <a:pPr lvl="1"/>
            <a:r>
              <a:rPr lang="en-US" b="1" dirty="0"/>
              <a:t>Risk Segmentation:</a:t>
            </a:r>
            <a:r>
              <a:rPr lang="en-US" dirty="0"/>
              <a:t> Categorizing users into Low, Medium, and High Risk.</a:t>
            </a:r>
          </a:p>
          <a:p>
            <a:pPr lvl="1"/>
            <a:r>
              <a:rPr lang="en-US" b="1" dirty="0"/>
              <a:t>Distribution:</a:t>
            </a:r>
            <a:r>
              <a:rPr lang="en-US" dirty="0"/>
              <a:t> Visual breakdown of churned vs. active users.</a:t>
            </a:r>
          </a:p>
          <a:p>
            <a:pPr lvl="1"/>
            <a:r>
              <a:rPr lang="en-US" b="1" dirty="0"/>
              <a:t>Financial Impact:</a:t>
            </a:r>
            <a:r>
              <a:rPr lang="en-US" dirty="0"/>
              <a:t> Analyzing charges vs. tenure.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24" y="2606346"/>
            <a:ext cx="10644094" cy="425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1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435" y="48372"/>
            <a:ext cx="10515600" cy="1325563"/>
          </a:xfrm>
        </p:spPr>
        <p:txBody>
          <a:bodyPr/>
          <a:lstStyle/>
          <a:p>
            <a:r>
              <a:rPr lang="en-US" b="1" dirty="0"/>
              <a:t> Dashboard Deep Dive (Insights)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82812" y="1126378"/>
            <a:ext cx="10515600" cy="1652681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smtClean="0"/>
              <a:t>Churn Distribution:</a:t>
            </a:r>
            <a:endParaRPr lang="en-US" dirty="0" smtClean="0"/>
          </a:p>
          <a:p>
            <a:pPr lvl="1"/>
            <a:r>
              <a:rPr lang="en-US" dirty="0" smtClean="0"/>
              <a:t>Visualizes the overall health of the subscriber base.</a:t>
            </a:r>
          </a:p>
          <a:p>
            <a:r>
              <a:rPr lang="en-US" b="1" dirty="0" smtClean="0"/>
              <a:t>Tenure vs. Monthly Charges:</a:t>
            </a:r>
            <a:endParaRPr lang="en-US" dirty="0" smtClean="0"/>
          </a:p>
          <a:p>
            <a:pPr lvl="1"/>
            <a:r>
              <a:rPr lang="en-US" dirty="0" smtClean="0"/>
              <a:t>Scatter plot reveals a "Kill Zone": </a:t>
            </a:r>
            <a:r>
              <a:rPr lang="en-US" b="1" dirty="0" smtClean="0"/>
              <a:t>New customers paying high monthly fees</a:t>
            </a:r>
            <a:r>
              <a:rPr lang="en-US" dirty="0" smtClean="0"/>
              <a:t> churn the fastest.</a:t>
            </a:r>
          </a:p>
          <a:p>
            <a:r>
              <a:rPr lang="en-US" b="1" dirty="0" smtClean="0"/>
              <a:t>High-Risk Segment:</a:t>
            </a:r>
            <a:endParaRPr lang="en-US" dirty="0" smtClean="0"/>
          </a:p>
          <a:p>
            <a:pPr lvl="1"/>
            <a:r>
              <a:rPr lang="en-US" dirty="0" smtClean="0"/>
              <a:t>Identified via probability scores from the Random Forest model (Probability &gt; 70%).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44" y="2707341"/>
            <a:ext cx="6732898" cy="39937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376" y="2707341"/>
            <a:ext cx="5269624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93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Strategic Recommendations:</a:t>
            </a:r>
            <a:endParaRPr lang="en-US" dirty="0"/>
          </a:p>
          <a:p>
            <a:pPr lvl="1"/>
            <a:r>
              <a:rPr lang="en-US" b="1" dirty="0"/>
              <a:t>Target the "New &amp; High Paying":</a:t>
            </a:r>
            <a:r>
              <a:rPr lang="en-US" dirty="0"/>
              <a:t> Offer discounts or loyalty perks to fiber-optic users in their first 6 months.</a:t>
            </a:r>
          </a:p>
          <a:p>
            <a:pPr lvl="1"/>
            <a:r>
              <a:rPr lang="en-US" b="1" dirty="0"/>
              <a:t>Contract Migration:</a:t>
            </a:r>
            <a:r>
              <a:rPr lang="en-US" dirty="0"/>
              <a:t> Launch campaigns to move Month-to-Month users to 1-Year contracts (e.g., "Pay for 10 months, get 12").</a:t>
            </a:r>
          </a:p>
          <a:p>
            <a:pPr lvl="1"/>
            <a:r>
              <a:rPr lang="en-US" b="1" dirty="0"/>
              <a:t>Digital Payments:</a:t>
            </a:r>
            <a:r>
              <a:rPr lang="en-US" dirty="0"/>
              <a:t> Investigate why users with "Electronic Check" payment methods have higher churn (UX friction?).</a:t>
            </a:r>
          </a:p>
        </p:txBody>
      </p:sp>
    </p:spTree>
    <p:extLst>
      <p:ext uri="{BB962C8B-B14F-4D97-AF65-F5344CB8AC3E}">
        <p14:creationId xmlns:p14="http://schemas.microsoft.com/office/powerpoint/2010/main" val="243976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132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Headline: Telecom Customer Churn Prediction Pipeline Sub-headline: Retention Strategies for Prepaid Subscribers in East Africa </vt:lpstr>
      <vt:lpstr>Part A - Data Overview &amp; Preprocessing</vt:lpstr>
      <vt:lpstr>Exploratory Data Analysis (Distributions) </vt:lpstr>
      <vt:lpstr>Key Churn Drivers</vt:lpstr>
      <vt:lpstr>Correlation Analysis </vt:lpstr>
      <vt:lpstr>Correlation analysis continued…</vt:lpstr>
      <vt:lpstr>Machine Learning Models</vt:lpstr>
      <vt:lpstr> Model Evaluation Results</vt:lpstr>
      <vt:lpstr>Feature Importance </vt:lpstr>
      <vt:lpstr>Executive Dashboard Design</vt:lpstr>
      <vt:lpstr> Dashboard Deep Dive (Insights)</vt:lpstr>
      <vt:lpstr>Recommendations &amp; 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Headline: Telecom Customer Churn Prediction Pipeline Sub-headline: Retention Strategies for Prepaid Subscribers in East Africa </dc:title>
  <dc:creator>Maria Kirabo</dc:creator>
  <cp:lastModifiedBy>Maria Kirabo</cp:lastModifiedBy>
  <cp:revision>11</cp:revision>
  <dcterms:created xsi:type="dcterms:W3CDTF">2025-12-14T15:18:07Z</dcterms:created>
  <dcterms:modified xsi:type="dcterms:W3CDTF">2025-12-14T15:48:37Z</dcterms:modified>
</cp:coreProperties>
</file>