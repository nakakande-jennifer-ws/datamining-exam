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24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90734-FD3D-42F5-8098-BB37DC436269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94152E-CA85-40FE-9F4F-78816DA496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35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90734-FD3D-42F5-8098-BB37DC436269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94152E-CA85-40FE-9F4F-78816DA496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66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90734-FD3D-42F5-8098-BB37DC436269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94152E-CA85-40FE-9F4F-78816DA496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187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90734-FD3D-42F5-8098-BB37DC436269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94152E-CA85-40FE-9F4F-78816DA496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154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90734-FD3D-42F5-8098-BB37DC436269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94152E-CA85-40FE-9F4F-78816DA496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790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90734-FD3D-42F5-8098-BB37DC436269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94152E-CA85-40FE-9F4F-78816DA496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752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90734-FD3D-42F5-8098-BB37DC436269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94152E-CA85-40FE-9F4F-78816DA496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173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90734-FD3D-42F5-8098-BB37DC436269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94152E-CA85-40FE-9F4F-78816DA496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922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90734-FD3D-42F5-8098-BB37DC436269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94152E-CA85-40FE-9F4F-78816DA496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62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90734-FD3D-42F5-8098-BB37DC436269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94152E-CA85-40FE-9F4F-78816DA496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311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90734-FD3D-42F5-8098-BB37DC436269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94152E-CA85-40FE-9F4F-78816DA496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679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D90734-FD3D-42F5-8098-BB37DC436269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94152E-CA85-40FE-9F4F-78816DA496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698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500" b="1" dirty="0"/>
              <a:t>Headline:</a:t>
            </a:r>
            <a:r>
              <a:rPr lang="en-US" sz="2500" dirty="0"/>
              <a:t> Telecom Customer Churn Prediction Pipeline</a:t>
            </a:r>
            <a:br>
              <a:rPr lang="en-US" sz="2500" dirty="0"/>
            </a:br>
            <a:r>
              <a:rPr lang="en-US" sz="2500" b="1" dirty="0"/>
              <a:t>Sub-headline:</a:t>
            </a:r>
            <a:r>
              <a:rPr lang="en-US" sz="2500" dirty="0"/>
              <a:t> Retention Strategies for Prepaid Subscribers in East Africa</a:t>
            </a:r>
            <a:br>
              <a:rPr lang="en-US" sz="2500" dirty="0"/>
            </a:br>
            <a:endParaRPr lang="en-US" sz="25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Name: </a:t>
            </a:r>
            <a:r>
              <a:rPr lang="en-US" dirty="0" err="1"/>
              <a:t>Nakakande</a:t>
            </a:r>
            <a:r>
              <a:rPr lang="en-US" dirty="0"/>
              <a:t> Jennifer </a:t>
            </a:r>
            <a:r>
              <a:rPr lang="en-US" dirty="0" err="1"/>
              <a:t>ws</a:t>
            </a:r>
            <a:r>
              <a:rPr lang="en-US" dirty="0"/>
              <a:t> </a:t>
            </a:r>
          </a:p>
          <a:p>
            <a:r>
              <a:rPr lang="en-US" dirty="0"/>
              <a:t>Registration Number: 2023-B071-22675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3876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Part A - Data Overview &amp; Preprocessing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b="1" dirty="0"/>
              <a:t>Dataset Overview:</a:t>
            </a:r>
            <a:endParaRPr lang="en-US" dirty="0"/>
          </a:p>
          <a:p>
            <a:pPr lvl="1"/>
            <a:r>
              <a:rPr lang="en-US" b="1" dirty="0"/>
              <a:t>Source:</a:t>
            </a:r>
            <a:r>
              <a:rPr lang="en-US" dirty="0"/>
              <a:t> Telco Customer Churn Dataset.</a:t>
            </a:r>
          </a:p>
          <a:p>
            <a:pPr lvl="1"/>
            <a:r>
              <a:rPr lang="en-US" b="1" dirty="0"/>
              <a:t>Volume:</a:t>
            </a:r>
            <a:r>
              <a:rPr lang="en-US" dirty="0"/>
              <a:t> 7,043 Customer records with 21 attributes.</a:t>
            </a:r>
          </a:p>
          <a:p>
            <a:r>
              <a:rPr lang="en-US" b="1" dirty="0"/>
              <a:t>Preprocessing Steps:</a:t>
            </a:r>
            <a:endParaRPr lang="en-US" dirty="0"/>
          </a:p>
          <a:p>
            <a:pPr lvl="1"/>
            <a:r>
              <a:rPr lang="en-US" b="1" dirty="0"/>
              <a:t>Handling Nulls:</a:t>
            </a:r>
            <a:r>
              <a:rPr lang="en-US" dirty="0"/>
              <a:t> Converted </a:t>
            </a:r>
            <a:r>
              <a:rPr lang="en-US" dirty="0" err="1"/>
              <a:t>TotalCharges</a:t>
            </a:r>
            <a:r>
              <a:rPr lang="en-US" dirty="0"/>
              <a:t> to numeric; filled missing values with 0.</a:t>
            </a:r>
          </a:p>
          <a:p>
            <a:pPr lvl="1"/>
            <a:r>
              <a:rPr lang="en-US" b="1" dirty="0"/>
              <a:t>Encoding:</a:t>
            </a:r>
            <a:r>
              <a:rPr lang="en-US" dirty="0"/>
              <a:t> Applied Label Encoding for binary variables (Yes/No) and One-Hot Encoding for multi-class variables (e.g., Payment Method).</a:t>
            </a:r>
          </a:p>
          <a:p>
            <a:pPr lvl="1"/>
            <a:r>
              <a:rPr lang="en-US" b="1" dirty="0"/>
              <a:t>Scaling:</a:t>
            </a:r>
            <a:r>
              <a:rPr lang="en-US" dirty="0"/>
              <a:t> Standardized tenure, </a:t>
            </a:r>
            <a:r>
              <a:rPr lang="en-US" dirty="0" err="1"/>
              <a:t>MonthlyCharges</a:t>
            </a:r>
            <a:r>
              <a:rPr lang="en-US" dirty="0"/>
              <a:t>, and </a:t>
            </a:r>
            <a:r>
              <a:rPr lang="en-US" dirty="0" err="1"/>
              <a:t>TotalCharges</a:t>
            </a:r>
            <a:r>
              <a:rPr lang="en-US" dirty="0"/>
              <a:t> for model stability</a:t>
            </a:r>
          </a:p>
          <a:p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172320"/>
            <a:ext cx="5181600" cy="3657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256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283028"/>
            <a:ext cx="10515600" cy="642257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Exploratory Data Analysis (Distributions)</a:t>
            </a:r>
            <a:br>
              <a:rPr lang="en-US" b="1" dirty="0"/>
            </a:b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762000" y="758826"/>
            <a:ext cx="10515600" cy="2038803"/>
          </a:xfrm>
        </p:spPr>
        <p:txBody>
          <a:bodyPr>
            <a:normAutofit fontScale="77500" lnSpcReduction="2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dirty="0"/>
              <a:t>Numerical Summary: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dirty="0"/>
              <a:t>Average Tenure: ~32 months.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dirty="0"/>
              <a:t>Average Monthly Charge: ~$65.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/>
              <a:t>Distributions: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dirty="0"/>
              <a:t>Tenure: Bimodal distribution. A huge spike in new customers (&lt; 5 months) and loyal customers (&gt; 65 months).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dirty="0"/>
              <a:t>Charges: Skewed towards lower monthly charges, but a significant portion pays high rates.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28" y="2754085"/>
            <a:ext cx="11430000" cy="4060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476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Key Churn Drivers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83188" y="1359562"/>
            <a:ext cx="6172200" cy="4129350"/>
          </a:xfrm>
          <a:prstGeom prst="rect">
            <a:avLst/>
          </a:prstGeom>
        </p:spPr>
      </p:pic>
      <p:sp>
        <p:nvSpPr>
          <p:cNvPr id="5" name="Text Placeholder 4"/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400" b="1" dirty="0"/>
              <a:t>Contract Type Analysis:</a:t>
            </a:r>
            <a:endParaRPr lang="en-US" sz="2400" dirty="0"/>
          </a:p>
          <a:p>
            <a:pPr lvl="1"/>
            <a:r>
              <a:rPr lang="en-US" sz="2400" b="1" dirty="0"/>
              <a:t>Month-to-month</a:t>
            </a:r>
            <a:r>
              <a:rPr lang="en-US" sz="2400" dirty="0"/>
              <a:t> contracts show a drastically higher churn rate compared to One or Two-year contracts.</a:t>
            </a:r>
          </a:p>
          <a:p>
            <a:pPr lvl="1"/>
            <a:r>
              <a:rPr lang="en-US" sz="2400" dirty="0"/>
              <a:t>Long-term contracts act as a strong retention mechanism.</a:t>
            </a:r>
          </a:p>
        </p:txBody>
      </p:sp>
    </p:spTree>
    <p:extLst>
      <p:ext uri="{BB962C8B-B14F-4D97-AF65-F5344CB8AC3E}">
        <p14:creationId xmlns:p14="http://schemas.microsoft.com/office/powerpoint/2010/main" val="2808033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b="1" dirty="0"/>
              <a:t>Correlation Analysis</a:t>
            </a:r>
            <a:br>
              <a:rPr lang="en-US" b="1" dirty="0"/>
            </a:b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838200" y="844550"/>
            <a:ext cx="10515600" cy="3508375"/>
          </a:xfrm>
        </p:spPr>
        <p:txBody>
          <a:bodyPr/>
          <a:lstStyle/>
          <a:p>
            <a:r>
              <a:rPr lang="en-US" b="1" dirty="0"/>
              <a:t>Feature Correlations:</a:t>
            </a:r>
            <a:endParaRPr lang="en-US" dirty="0"/>
          </a:p>
          <a:p>
            <a:pPr lvl="1"/>
            <a:r>
              <a:rPr lang="en-US" b="1" dirty="0"/>
              <a:t>Positive Correlation:</a:t>
            </a:r>
            <a:r>
              <a:rPr lang="en-US" dirty="0"/>
              <a:t> Higher </a:t>
            </a:r>
            <a:r>
              <a:rPr lang="en-US" dirty="0" err="1"/>
              <a:t>MonthlyCharges</a:t>
            </a:r>
            <a:r>
              <a:rPr lang="en-US" dirty="0"/>
              <a:t> and </a:t>
            </a:r>
            <a:r>
              <a:rPr lang="en-US" dirty="0" err="1"/>
              <a:t>PaperlessBilling</a:t>
            </a:r>
            <a:r>
              <a:rPr lang="en-US" dirty="0"/>
              <a:t> correlate with Churn.</a:t>
            </a:r>
          </a:p>
          <a:p>
            <a:pPr lvl="1"/>
            <a:r>
              <a:rPr lang="en-US" b="1" dirty="0"/>
              <a:t>Negative Correlation:</a:t>
            </a:r>
            <a:r>
              <a:rPr lang="en-US" dirty="0"/>
              <a:t> High tenure and Two year contracts correlate with Retention (No Churn).</a:t>
            </a:r>
          </a:p>
        </p:txBody>
      </p:sp>
    </p:spTree>
    <p:extLst>
      <p:ext uri="{BB962C8B-B14F-4D97-AF65-F5344CB8AC3E}">
        <p14:creationId xmlns:p14="http://schemas.microsoft.com/office/powerpoint/2010/main" val="217775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00100" y="74613"/>
            <a:ext cx="10515600" cy="915988"/>
          </a:xfrm>
        </p:spPr>
        <p:txBody>
          <a:bodyPr/>
          <a:lstStyle/>
          <a:p>
            <a:r>
              <a:rPr lang="en-US" dirty="0" smtClean="0"/>
              <a:t>Correlation analysis continued…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092" y="885825"/>
            <a:ext cx="9443558" cy="567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845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Machine Learning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dirty="0"/>
              <a:t>Approach:</a:t>
            </a:r>
            <a:endParaRPr lang="en-US" dirty="0"/>
          </a:p>
          <a:p>
            <a:pPr lvl="1"/>
            <a:r>
              <a:rPr lang="en-US" b="1" dirty="0"/>
              <a:t>Split:</a:t>
            </a:r>
            <a:r>
              <a:rPr lang="en-US" dirty="0"/>
              <a:t> 80% Training Data / 20% Testing Data.</a:t>
            </a:r>
          </a:p>
          <a:p>
            <a:pPr lvl="1"/>
            <a:r>
              <a:rPr lang="en-US" b="1" dirty="0"/>
              <a:t>Models Trained:</a:t>
            </a:r>
            <a:endParaRPr lang="en-US" dirty="0"/>
          </a:p>
          <a:p>
            <a:pPr lvl="2"/>
            <a:r>
              <a:rPr lang="en-US" b="1" dirty="0"/>
              <a:t>Logistic Regression:</a:t>
            </a:r>
            <a:r>
              <a:rPr lang="en-US" dirty="0"/>
              <a:t> Baseline model, highly interpretable.</a:t>
            </a:r>
          </a:p>
          <a:p>
            <a:pPr lvl="2"/>
            <a:r>
              <a:rPr lang="en-US" b="1" dirty="0"/>
              <a:t>Random Forest Classifier:</a:t>
            </a:r>
            <a:r>
              <a:rPr lang="en-US" dirty="0"/>
              <a:t> Ensemble method to capture non-linear relationships.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333625"/>
            <a:ext cx="5181600" cy="2604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981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 Model Evaluation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Comparison:</a:t>
            </a:r>
            <a:endParaRPr lang="en-US" dirty="0"/>
          </a:p>
          <a:p>
            <a:pPr lvl="1"/>
            <a:r>
              <a:rPr lang="en-US" b="1" dirty="0"/>
              <a:t>Logistic Regression:</a:t>
            </a:r>
            <a:endParaRPr lang="en-US" dirty="0"/>
          </a:p>
          <a:p>
            <a:pPr lvl="2"/>
            <a:r>
              <a:rPr lang="en-US" dirty="0"/>
              <a:t>Accuracy: </a:t>
            </a:r>
            <a:r>
              <a:rPr lang="en-US" b="1" dirty="0"/>
              <a:t>82.11%</a:t>
            </a:r>
            <a:endParaRPr lang="en-US" dirty="0"/>
          </a:p>
          <a:p>
            <a:pPr lvl="2"/>
            <a:r>
              <a:rPr lang="en-US" dirty="0"/>
              <a:t>F1-Score: </a:t>
            </a:r>
            <a:r>
              <a:rPr lang="en-US" b="1" dirty="0"/>
              <a:t>0.64</a:t>
            </a:r>
            <a:endParaRPr lang="en-US" dirty="0"/>
          </a:p>
          <a:p>
            <a:pPr lvl="1"/>
            <a:r>
              <a:rPr lang="en-US" b="1" dirty="0"/>
              <a:t>Random Forest:</a:t>
            </a:r>
            <a:endParaRPr lang="en-US" dirty="0"/>
          </a:p>
          <a:p>
            <a:pPr lvl="2"/>
            <a:r>
              <a:rPr lang="en-US" dirty="0"/>
              <a:t>Accuracy: </a:t>
            </a:r>
            <a:r>
              <a:rPr lang="en-US" b="1" dirty="0"/>
              <a:t>79.42%</a:t>
            </a:r>
            <a:endParaRPr lang="en-US" dirty="0"/>
          </a:p>
          <a:p>
            <a:pPr lvl="2"/>
            <a:r>
              <a:rPr lang="en-US" dirty="0"/>
              <a:t>F1-Score: </a:t>
            </a:r>
            <a:r>
              <a:rPr lang="en-US" b="1" dirty="0"/>
              <a:t>0.55</a:t>
            </a:r>
            <a:endParaRPr lang="en-US" dirty="0"/>
          </a:p>
          <a:p>
            <a:r>
              <a:rPr lang="en-US" b="1" dirty="0"/>
              <a:t>Conclusion:</a:t>
            </a:r>
            <a:r>
              <a:rPr lang="en-US" dirty="0"/>
              <a:t> Logistic Regression outperformed Random Forest in this specific iteration, offering better recall and precision balance.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19800" y="2158193"/>
            <a:ext cx="4953000" cy="4233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527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Feature Importance</a:t>
            </a:r>
            <a:br>
              <a:rPr lang="en-US" b="1" dirty="0"/>
            </a:b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2025" y="762000"/>
            <a:ext cx="6583363" cy="5343525"/>
          </a:xfrm>
          <a:prstGeom prst="rect">
            <a:avLst/>
          </a:prstGeom>
        </p:spPr>
      </p:pic>
      <p:sp>
        <p:nvSpPr>
          <p:cNvPr id="6" name="Text Placeholder 5"/>
          <p:cNvSpPr>
            <a:spLocks noGrp="1"/>
          </p:cNvSpPr>
          <p:nvPr>
            <p:ph type="body" sz="half" idx="2"/>
          </p:nvPr>
        </p:nvSpPr>
        <p:spPr/>
        <p:txBody>
          <a:bodyPr>
            <a:noAutofit/>
          </a:bodyPr>
          <a:lstStyle/>
          <a:p>
            <a:r>
              <a:rPr lang="en-US" sz="2000" b="1" dirty="0"/>
              <a:t>What Drives Churn?</a:t>
            </a: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>Based on the model analysis, the top factors influencing predictions are:</a:t>
            </a:r>
          </a:p>
          <a:p>
            <a:pPr lvl="1"/>
            <a:r>
              <a:rPr lang="en-US" sz="2000" b="1" dirty="0"/>
              <a:t>Total Charges:</a:t>
            </a:r>
            <a:r>
              <a:rPr lang="en-US" sz="2000" dirty="0"/>
              <a:t> High lifetime value customers behave differently.</a:t>
            </a:r>
          </a:p>
          <a:p>
            <a:pPr lvl="1"/>
            <a:r>
              <a:rPr lang="en-US" sz="2000" b="1" dirty="0"/>
              <a:t>Monthly Charges:</a:t>
            </a:r>
            <a:r>
              <a:rPr lang="en-US" sz="2000" dirty="0"/>
              <a:t> Pricing sensitivity is high.</a:t>
            </a:r>
          </a:p>
          <a:p>
            <a:pPr lvl="1"/>
            <a:r>
              <a:rPr lang="en-US" sz="2000" b="1" dirty="0"/>
              <a:t>Tenure:</a:t>
            </a:r>
            <a:r>
              <a:rPr lang="en-US" sz="2000" dirty="0"/>
              <a:t> New customers are the most volatile.</a:t>
            </a:r>
          </a:p>
          <a:p>
            <a:pPr lvl="1"/>
            <a:r>
              <a:rPr lang="en-US" sz="2000" b="1" dirty="0"/>
              <a:t>Contract Type:</a:t>
            </a:r>
            <a:r>
              <a:rPr lang="en-US" sz="2000" dirty="0"/>
              <a:t> The strongest behavioral predictor.</a:t>
            </a:r>
          </a:p>
        </p:txBody>
      </p:sp>
    </p:spTree>
    <p:extLst>
      <p:ext uri="{BB962C8B-B14F-4D97-AF65-F5344CB8AC3E}">
        <p14:creationId xmlns:p14="http://schemas.microsoft.com/office/powerpoint/2010/main" val="2625345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33450" y="0"/>
            <a:ext cx="10515600" cy="1325563"/>
          </a:xfrm>
        </p:spPr>
        <p:txBody>
          <a:bodyPr/>
          <a:lstStyle/>
          <a:p>
            <a:r>
              <a:rPr lang="en-US" b="1" dirty="0"/>
              <a:t>Executive Dashboard Design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781050" y="853422"/>
            <a:ext cx="10515600" cy="1860550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Dashboard Concept:</a:t>
            </a:r>
            <a:r>
              <a:rPr lang="en-US" dirty="0"/>
              <a:t> A Power BI interface for marketing teams to identify high-risk segments.</a:t>
            </a:r>
          </a:p>
          <a:p>
            <a:r>
              <a:rPr lang="en-US" b="1" dirty="0"/>
              <a:t>Key Components:</a:t>
            </a:r>
            <a:endParaRPr lang="en-US" dirty="0"/>
          </a:p>
          <a:p>
            <a:pPr lvl="1"/>
            <a:r>
              <a:rPr lang="en-US" b="1" dirty="0"/>
              <a:t>Risk Segmentation:</a:t>
            </a:r>
            <a:r>
              <a:rPr lang="en-US" dirty="0"/>
              <a:t> Categorizing users into Low, Medium, and High Risk.</a:t>
            </a:r>
          </a:p>
          <a:p>
            <a:pPr lvl="1"/>
            <a:r>
              <a:rPr lang="en-US" b="1" dirty="0"/>
              <a:t>Distribution:</a:t>
            </a:r>
            <a:r>
              <a:rPr lang="en-US" dirty="0"/>
              <a:t> Visual breakdown of churned vs. active users.</a:t>
            </a:r>
          </a:p>
          <a:p>
            <a:pPr lvl="1"/>
            <a:r>
              <a:rPr lang="en-US" b="1" dirty="0"/>
              <a:t>Financial Impact:</a:t>
            </a:r>
            <a:r>
              <a:rPr lang="en-US" dirty="0"/>
              <a:t> Analyzing charges vs. tenure.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224" y="2606346"/>
            <a:ext cx="10644094" cy="4251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912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8435" y="48372"/>
            <a:ext cx="10515600" cy="1325563"/>
          </a:xfrm>
        </p:spPr>
        <p:txBody>
          <a:bodyPr/>
          <a:lstStyle/>
          <a:p>
            <a:r>
              <a:rPr lang="en-US" b="1" dirty="0"/>
              <a:t> Dashboard Deep Dive (Insights)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682812" y="1126378"/>
            <a:ext cx="10515600" cy="1652681"/>
          </a:xfrm>
        </p:spPr>
        <p:txBody>
          <a:bodyPr>
            <a:normAutofit fontScale="62500" lnSpcReduction="20000"/>
          </a:bodyPr>
          <a:lstStyle/>
          <a:p>
            <a:r>
              <a:rPr lang="en-US" b="1" dirty="0" smtClean="0"/>
              <a:t>Churn Distribution:</a:t>
            </a:r>
            <a:endParaRPr lang="en-US" dirty="0" smtClean="0"/>
          </a:p>
          <a:p>
            <a:pPr lvl="1"/>
            <a:r>
              <a:rPr lang="en-US" dirty="0" smtClean="0"/>
              <a:t>Visualizes the overall health of the subscriber base.</a:t>
            </a:r>
          </a:p>
          <a:p>
            <a:r>
              <a:rPr lang="en-US" b="1" dirty="0" smtClean="0"/>
              <a:t>Tenure vs. Monthly Charges:</a:t>
            </a:r>
            <a:endParaRPr lang="en-US" dirty="0" smtClean="0"/>
          </a:p>
          <a:p>
            <a:pPr lvl="1"/>
            <a:r>
              <a:rPr lang="en-US" dirty="0" smtClean="0"/>
              <a:t>Scatter plot reveals a "Kill Zone": </a:t>
            </a:r>
            <a:r>
              <a:rPr lang="en-US" b="1" dirty="0" smtClean="0"/>
              <a:t>New customers paying high monthly fees</a:t>
            </a:r>
            <a:r>
              <a:rPr lang="en-US" dirty="0" smtClean="0"/>
              <a:t> churn the fastest.</a:t>
            </a:r>
          </a:p>
          <a:p>
            <a:r>
              <a:rPr lang="en-US" b="1" dirty="0" smtClean="0"/>
              <a:t>High-Risk Segment:</a:t>
            </a:r>
            <a:endParaRPr lang="en-US" dirty="0" smtClean="0"/>
          </a:p>
          <a:p>
            <a:pPr lvl="1"/>
            <a:r>
              <a:rPr lang="en-US" dirty="0" smtClean="0"/>
              <a:t>Identified via probability scores from the Random Forest model (Probability &gt; 70%).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44" y="2707341"/>
            <a:ext cx="6732898" cy="399370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376" y="2707341"/>
            <a:ext cx="5269624" cy="386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693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Recommendations &amp;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Strategic Recommendations:</a:t>
            </a:r>
            <a:endParaRPr lang="en-US" dirty="0"/>
          </a:p>
          <a:p>
            <a:pPr lvl="1"/>
            <a:r>
              <a:rPr lang="en-US" b="1" dirty="0"/>
              <a:t>Target the "New &amp; High Paying":</a:t>
            </a:r>
            <a:r>
              <a:rPr lang="en-US" dirty="0"/>
              <a:t> Offer discounts or loyalty perks to fiber-optic users in their first 6 months.</a:t>
            </a:r>
          </a:p>
          <a:p>
            <a:pPr lvl="1"/>
            <a:r>
              <a:rPr lang="en-US" b="1" dirty="0"/>
              <a:t>Contract Migration:</a:t>
            </a:r>
            <a:r>
              <a:rPr lang="en-US" dirty="0"/>
              <a:t> Launch campaigns to move Month-to-Month users to 1-Year contracts (e.g., "Pay for 10 months, get 12").</a:t>
            </a:r>
          </a:p>
          <a:p>
            <a:pPr lvl="1"/>
            <a:r>
              <a:rPr lang="en-US" b="1" dirty="0"/>
              <a:t>Digital Payments:</a:t>
            </a:r>
            <a:r>
              <a:rPr lang="en-US" dirty="0"/>
              <a:t> Investigate why users with "Electronic Check" payment methods have higher churn (UX friction?).</a:t>
            </a:r>
          </a:p>
        </p:txBody>
      </p:sp>
    </p:spTree>
    <p:extLst>
      <p:ext uri="{BB962C8B-B14F-4D97-AF65-F5344CB8AC3E}">
        <p14:creationId xmlns:p14="http://schemas.microsoft.com/office/powerpoint/2010/main" val="2439760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136</Words>
  <Application>Microsoft Office PowerPoint</Application>
  <PresentationFormat>Widescreen</PresentationFormat>
  <Paragraphs>66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Headline: Telecom Customer Churn Prediction Pipeline Sub-headline: Retention Strategies for Prepaid Subscribers in East Africa </vt:lpstr>
      <vt:lpstr>Part A - Data Overview &amp; Preprocessing</vt:lpstr>
      <vt:lpstr>Exploratory Data Analysis (Distributions) </vt:lpstr>
      <vt:lpstr>Key Churn Drivers</vt:lpstr>
      <vt:lpstr>Correlation Analysis </vt:lpstr>
      <vt:lpstr>Correlation analysis continued…</vt:lpstr>
      <vt:lpstr>Machine Learning Models</vt:lpstr>
      <vt:lpstr> Model Evaluation Results</vt:lpstr>
      <vt:lpstr>Feature Importance </vt:lpstr>
      <vt:lpstr>Executive Dashboard Design</vt:lpstr>
      <vt:lpstr> Dashboard Deep Dive (Insights)</vt:lpstr>
      <vt:lpstr>Recommendations &amp; Conclusion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Headline: Telecom Customer Churn Prediction Pipeline Sub-headline: Retention Strategies for Prepaid Subscribers in East Africa </dc:title>
  <dc:creator>Maria Kirabo</dc:creator>
  <cp:lastModifiedBy>Maria Kirabo</cp:lastModifiedBy>
  <cp:revision>13</cp:revision>
  <dcterms:created xsi:type="dcterms:W3CDTF">2025-12-14T15:18:07Z</dcterms:created>
  <dcterms:modified xsi:type="dcterms:W3CDTF">2025-12-14T16:15:03Z</dcterms:modified>
</cp:coreProperties>
</file>